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829 Studios brand system; project-approved source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 objective; approved research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Search-persona analysis framework provided by the client reference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project sources and generated project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Persona Builder Studio methodology and project source inventory.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first-party evidence; SparkToro supporting signals where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first-party evidence; SparkToro supporting signals where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first-party evidence; SparkToro supporting signals where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search-persona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prompt-set snapshots generated through query fanout.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829 Studios search-persona operating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persona content implications.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Approved prompt-set snapshots and 829 measurement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829 Studios operating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75D9F7"/>
          </a:solidFill>
          <a:ln w="12700">
            <a:solidFill>
              <a:srgbClr val="75D9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Northwind Analytics Search Personas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D9F7"/>
                </a:solidFill>
                <a:latin typeface="Merriweather Sans Light" pitchFamily="34" charset="0"/>
                <a:ea typeface="Merriweather Sans Light" pitchFamily="34" charset="-122"/>
                <a:cs typeface="Merriweather Sans Light" pitchFamily="34" charset="-120"/>
              </a:rPr>
              <a:t>Search Persona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0" y="6172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Persona Builder Studio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Driver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AI search needs a persona-first approach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AI answers do more than rank pages. They interpret context, combine sources, and adapt the response to the person asking.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75320" y="1371600"/>
            <a:ext cx="2926080" cy="3337560"/>
          </a:xfrm>
          <a:prstGeom prst="rect">
            <a:avLst/>
          </a:prstGeom>
          <a:solidFill>
            <a:srgbClr val="DDF5FF"/>
          </a:solidFill>
          <a:ln w="12700">
            <a:solidFill>
              <a:srgbClr val="DD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The operating shift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0" y="2286000"/>
            <a:ext cx="22402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Model the decision, not a demographic profile</a:t>
            </a:r>
            <a:endParaRPr lang="en-US" sz="17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Follow the likely query fanout</a:t>
            </a:r>
            <a:endParaRPr lang="en-US" sz="17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Build proof for the hesitation behind the search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6777"/>
                </a:solidFill>
              </a:rPr>
              <a:t>Make AI-search behavior actionable across content and measurement.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Driver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AI search behavior follows four repeatable patterns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D9F7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Efficiency-first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2240280" cy="0"/>
          </a:xfrm>
          <a:prstGeom prst="line">
            <a:avLst/>
          </a:prstGeom>
          <a:noFill/>
          <a:ln w="25400">
            <a:solidFill>
              <a:srgbClr val="D9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Compresses research into a shortlist and a next action.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D9F7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93592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Trust-driven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593592" y="2651760"/>
            <a:ext cx="2240280" cy="0"/>
          </a:xfrm>
          <a:prstGeom prst="line">
            <a:avLst/>
          </a:prstGeom>
          <a:noFill/>
          <a:ln w="25400">
            <a:solidFill>
              <a:srgbClr val="75D9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Checks proof, authority, and transparent methodology.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9944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D9F7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9944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Comparative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409944" y="2651760"/>
            <a:ext cx="2240280" cy="0"/>
          </a:xfrm>
          <a:prstGeom prst="line">
            <a:avLst/>
          </a:prstGeom>
          <a:noFill/>
          <a:ln w="25400">
            <a:solidFill>
              <a:srgbClr val="D9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Explores tradeoffs, alternatives, and fit.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26296" y="1508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D9F7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26296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Skeptical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226296" y="2651760"/>
            <a:ext cx="2240280" cy="0"/>
          </a:xfrm>
          <a:prstGeom prst="line">
            <a:avLst/>
          </a:prstGeom>
          <a:noFill/>
          <a:ln w="25400">
            <a:solidFill>
              <a:srgbClr val="D9D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29718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Challenges assumptions and stress-tests risk.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The search journey is a sequence of decisions, not a single query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Across 6 approved sources, the strongest pattern is that people use AI search to move from an ambiguous need to a defensible choice. The content opportunity is to answer the next question before it is asked.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145E"/>
                </a:solidFill>
              </a:rPr>
              <a:t>6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777"/>
                </a:solidFill>
              </a:rPr>
              <a:t>approved sources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145E"/>
                </a:solidFill>
              </a:rPr>
              <a:t>3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20040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777"/>
                </a:solidFill>
              </a:rPr>
              <a:t>approved personas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6145E"/>
                </a:solidFill>
              </a:rPr>
              <a:t>24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562356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777"/>
                </a:solidFill>
              </a:rPr>
              <a:t>AI-search prompts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417320"/>
            <a:ext cx="2834640" cy="3383280"/>
          </a:xfrm>
          <a:prstGeom prst="rect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1783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D9F7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41080" y="2331720"/>
            <a:ext cx="21488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Plan around persona questions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Design connected proof assets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Track prompt families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Methodology &amp; Data Sources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Search persona analysis combines first-party evidence with audience signals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438912" cy="438912"/>
          </a:xfrm>
          <a:prstGeom prst="ellipse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990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307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Safeguard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13075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6 sources reviewed; 2 PII patterns redacted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2404872"/>
            <a:ext cx="438912" cy="438912"/>
          </a:xfrm>
          <a:prstGeom prst="ellipse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7802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3865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Synthesize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238658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Jobs, pain points, objections, outcomes, trust, and language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483864"/>
            <a:ext cx="438912" cy="438912"/>
          </a:xfrm>
          <a:prstGeom prst="ellipse">
            <a:avLst/>
          </a:prstGeom>
          <a:solidFill>
            <a:srgbClr val="75D9F7"/>
          </a:solidFill>
          <a:ln w="12700">
            <a:solidFill>
              <a:srgbClr val="75D9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570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45E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4655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Enrich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46120" y="34655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SparkToro audience signals interpreted as external support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562856"/>
            <a:ext cx="438912" cy="438912"/>
          </a:xfrm>
          <a:prstGeom prst="ellipse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360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4544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Fan out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454456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Seed needs expanded into comparison, proof, risk, and action prompts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623560"/>
            <a:ext cx="8915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6777"/>
                </a:solidFill>
              </a:rPr>
              <a:t>Only reviewer-approved, redacted working text is eligible for synthesis. Every persona and export retains versioned evidence 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Search Persona #1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Efficiency-first Evaluator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43584"/>
            <a:ext cx="3794760" cy="5614416"/>
          </a:xfrm>
          <a:prstGeom prst="rect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 time-constrained searcher who wants a credible shortlist and a clear path to action.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D9F7"/>
                </a:solidFill>
              </a:rPr>
              <a:t>Core job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Find a workable option quickly without missing a binding constraint.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D9F7"/>
                </a:solidFill>
              </a:rPr>
              <a:t>Confidence 85%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Pain points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1801368"/>
            <a:ext cx="3154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Generic guidance makes it hard to choose a path.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Proof is scattered across too many sources.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181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Proof needs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1801368"/>
            <a:ext cx="32918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Independent evidence, transparent tradeoffs, and relevant examples.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97680" y="3794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Search behavior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4270248"/>
            <a:ext cx="3154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Starts broad, then adds constraints.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Fans out into comparison, proof, risk, and action questions.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181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Content implications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18120" y="4270248"/>
            <a:ext cx="32918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Lead with the decision.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Pair concise answers with visible proof.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Connect supporting assets around the likely fanout.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Search Persona #2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Trust-driven Validator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43584"/>
            <a:ext cx="3794760" cy="5614416"/>
          </a:xfrm>
          <a:prstGeom prst="rect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 risk-aware searcher who needs proof and transparency before recommending a direction.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D9F7"/>
                </a:solidFill>
              </a:rPr>
              <a:t>Core job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Verify that the recommended approach is credible and defensible.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D9F7"/>
                </a:solidFill>
              </a:rPr>
              <a:t>Confidence 82%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Pain points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1801368"/>
            <a:ext cx="3154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Generic guidance makes it hard to choose a path.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Proof is scattered across too many sources.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181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Proof needs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1801368"/>
            <a:ext cx="32918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Independent evidence, transparent tradeoffs, and relevant examples.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97680" y="3794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Search behavior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4270248"/>
            <a:ext cx="3154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Starts broad, then adds constraints.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Fans out into comparison, proof, risk, and action questions.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181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Content implications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18120" y="4270248"/>
            <a:ext cx="32918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Lead with the decision.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Pair concise answers with visible proof.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Connect supporting assets around the likely fanout.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Search Persona #3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Comparative Decision Maker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8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1243584"/>
            <a:ext cx="3794760" cy="5614416"/>
          </a:xfrm>
          <a:prstGeom prst="rect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A choice-oriented searcher comparing approaches, tradeoffs, providers, and outcomes.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D9F7"/>
                </a:solidFill>
              </a:rPr>
              <a:t>Core job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Compare viable approaches and understand the tradeoffs before committing.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5D9F7"/>
                </a:solidFill>
              </a:rPr>
              <a:t>Confidence 80%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Pain points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1801368"/>
            <a:ext cx="3154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Generic guidance makes it hard to choose a path.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Proof is scattered across too many sources.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181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Proof needs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1801368"/>
            <a:ext cx="32918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Independent evidence, transparent tradeoffs, and relevant examples.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97680" y="3794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Search behavior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4270248"/>
            <a:ext cx="31546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Starts broad, then adds constraints.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Fans out into comparison, proof, risk, and action questions.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181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145E"/>
                </a:solidFill>
              </a:rPr>
              <a:t>Content implications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18120" y="4270248"/>
            <a:ext cx="32918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Lead with the decision.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Pair concise answers with visible proof.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Connect supporting assets around the likely fanout.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Compared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The personas differ most in what makes an answer usable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9</a:t>
            </a:r>
            <a:endParaRPr lang="en-US" sz="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10652760" cy="4114800"/>
        </p:xfrm>
        <a:graphic>
          <a:graphicData uri="http://schemas.openxmlformats.org/drawingml/2006/table">
            <a:tbl>
              <a:tblPr/>
              <a:tblGrid>
                <a:gridCol w="2663190"/>
                <a:gridCol w="2663190"/>
                <a:gridCol w="2663190"/>
                <a:gridCol w="266319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Persona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Job to be done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Primary tension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Proof threshold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Efficiency-first Evaluator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Find a workable option quickly without missing a binding constraint.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Generic guidance makes it hard to choose a path.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Independent evidence, transparent tradeoffs, and relevant…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Trust-driven Validator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Verify that the recommended approach is credible and defensible.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Generic guidance makes it hard to choose a path.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Independent evidence, transparent tradeoffs, and relevant…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Comparative Decision Maker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Compare viable approaches and understand the tradeoffs before committin…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Generic guidance makes it hard to choose a path.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A22"/>
                          </a:solidFill>
                          <a:latin typeface="Merriweather Sans" pitchFamily="34" charset="0"/>
                          <a:ea typeface="Merriweather Sans" pitchFamily="34" charset="-122"/>
                          <a:cs typeface="Merriweather Sans" pitchFamily="34" charset="-120"/>
                        </a:rPr>
                        <a:t>Independent evidence, transparent tradeoffs, and relevant…</a:t>
                      </a:r>
                      <a:endParaRPr lang="en-US" sz="1300" dirty="0">
                        <a:latin typeface="Merriweather Sans" charset="0"/>
                        <a:ea typeface="Merriweather Sans" charset="0"/>
                        <a:cs typeface="Merriweather San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Compared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Query fanout reveals the next question each persona is likely to ask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10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965960" cy="685800"/>
          </a:xfrm>
          <a:prstGeom prst="chevron">
            <a:avLst/>
          </a:prstGeom>
          <a:solidFill>
            <a:srgbClr val="DDF5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45E"/>
                </a:solidFill>
              </a:rPr>
              <a:t>Clarify the 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920240"/>
            <a:ext cx="1965960" cy="685800"/>
          </a:xfrm>
          <a:prstGeom prst="chevron">
            <a:avLst/>
          </a:prstGeom>
          <a:solidFill>
            <a:srgbClr val="DDF5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45E"/>
                </a:solidFill>
              </a:rPr>
              <a:t>Compare approaches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1920240"/>
            <a:ext cx="1965960" cy="685800"/>
          </a:xfrm>
          <a:prstGeom prst="chevron">
            <a:avLst/>
          </a:prstGeom>
          <a:solidFill>
            <a:srgbClr val="75D9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45E"/>
                </a:solidFill>
              </a:rPr>
              <a:t>Validate proof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920240"/>
            <a:ext cx="1965960" cy="685800"/>
          </a:xfrm>
          <a:prstGeom prst="chevron">
            <a:avLst/>
          </a:prstGeom>
          <a:solidFill>
            <a:srgbClr val="DDF5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45E"/>
                </a:solidFill>
              </a:rPr>
              <a:t>Reduce risk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0" y="1920240"/>
            <a:ext cx="1965960" cy="685800"/>
          </a:xfrm>
          <a:prstGeom prst="chevron">
            <a:avLst/>
          </a:prstGeom>
          <a:solidFill>
            <a:srgbClr val="DDF5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145E"/>
                </a:solidFill>
              </a:rPr>
              <a:t>Plan action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Representative prompts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49040"/>
            <a:ext cx="9966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Which analytics platforms work for a small product team without SQL support?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How can a buyer validate implementation claims before choosing an analytics platform?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71A22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What should a regulated company compare when evaluating product analytics tools?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Operationalize personas as a planning and quality system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11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145E"/>
                </a:solidFill>
              </a:rPr>
              <a:t>Plan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Map each priority topic to a persona, decision, and prompt family.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777"/>
                </a:solidFill>
              </a:rPr>
              <a:t>Content strategy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5D9F7"/>
                </a:solidFill>
              </a:rPr>
              <a:t>Create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Answer the primary need and its likely proof, comparison, and risk follow-ups.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4709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777"/>
                </a:solidFill>
              </a:rPr>
              <a:t>Editorial workflow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145E"/>
                </a:solidFill>
              </a:rPr>
              <a:t>Review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Check clarity, evidence, language, and next-step usefulness by persona.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4709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777"/>
                </a:solidFill>
              </a:rPr>
              <a:t>SEO / AI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0" y="1508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5D9F7"/>
                </a:solidFill>
              </a:rPr>
              <a:t>Refresh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Revisit evidence and prompt families quarterly as search behavior changes.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4709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777"/>
                </a:solidFill>
              </a:rPr>
              <a:t>Analytics &amp; insights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The clearest opportunities connect content, proof, and distribution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12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45E"/>
                </a:solidFill>
              </a:rPr>
              <a:t>Owned content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490472"/>
            <a:ext cx="777240" cy="0"/>
          </a:xfrm>
          <a:prstGeom prst="line">
            <a:avLst/>
          </a:prstGeom>
          <a:noFill/>
          <a:ln w="25400">
            <a:solidFill>
              <a:srgbClr val="D9D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1325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Lead with the decision.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45E"/>
                </a:solidFill>
              </a:rPr>
              <a:t>Sales enablement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88920" y="2240280"/>
            <a:ext cx="777240" cy="0"/>
          </a:xfrm>
          <a:prstGeom prst="line">
            <a:avLst/>
          </a:prstGeom>
          <a:noFill/>
          <a:ln w="25400">
            <a:solidFill>
              <a:srgbClr val="D9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07568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Pair concise answers with visible proof.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825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45E"/>
                </a:solidFill>
              </a:rPr>
              <a:t>PR &amp; authority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88920" y="2990088"/>
            <a:ext cx="777240" cy="0"/>
          </a:xfrm>
          <a:prstGeom prst="line">
            <a:avLst/>
          </a:prstGeom>
          <a:noFill/>
          <a:ln w="25400">
            <a:solidFill>
              <a:srgbClr val="75D9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82549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Connect supporting assets around the likely fanout.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Metrics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Monitor decision progress, not just engagement and visibility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Discoverability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4612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Visibility across approved persona prompt families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298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06777"/>
                </a:solidFill>
              </a:rPr>
              <a:t>Monthly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Usefulness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2423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Coverage of expected answer elements and proof needs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2980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06777"/>
                </a:solidFill>
              </a:rPr>
              <a:t>Monthly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Progression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3474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Movement from education to comparison and 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2980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06777"/>
                </a:solidFill>
              </a:rPr>
              <a:t>Quarterly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145E"/>
                </a:solidFill>
              </a:rPr>
              <a:t>Business impact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4526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A22"/>
                </a:solidFill>
              </a:rPr>
              <a:t>Assisted conversion, cycle time, and qualified demand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2980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06777"/>
                </a:solidFill>
              </a:rPr>
              <a:t>Quarterly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6777"/>
                </a:solidFill>
              </a:rPr>
              <a:t>24 approved prompts form the initial measurement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82880"/>
            <a:ext cx="146304" cy="146304"/>
          </a:xfrm>
          <a:prstGeom prst="hexagon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7452"/>
            <a:ext cx="320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6145E"/>
                </a:solidFill>
              </a:rPr>
              <a:t>829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777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Long-term success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71A22"/>
                </a:solidFill>
                <a:latin typeface="Onest Light" pitchFamily="34" charset="0"/>
                <a:ea typeface="Onest Light" pitchFamily="34" charset="-122"/>
                <a:cs typeface="Onest Light" pitchFamily="34" charset="-120"/>
              </a:rPr>
              <a:t>Create a quarterly search persona feedback loop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6777"/>
                </a:solidFill>
              </a:rPr>
              <a:t>14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1005840" cy="1005840"/>
          </a:xfrm>
          <a:prstGeom prst="arc">
            <a:avLst/>
          </a:prstGeom>
          <a:solidFill>
            <a:srgbClr val="0614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Observe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New calls, search data, reviews, and SparkToro signals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3593592" y="1508760"/>
            <a:ext cx="1005840" cy="1005840"/>
          </a:xfrm>
          <a:prstGeom prst="arc">
            <a:avLst/>
          </a:prstGeom>
          <a:solidFill>
            <a:srgbClr val="75D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Review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93592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PII safeguard, evidence quality, and persona fit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10800000">
            <a:off x="6409944" y="1508760"/>
            <a:ext cx="1005840" cy="1005840"/>
          </a:xfrm>
          <a:prstGeom prst="arc">
            <a:avLst/>
          </a:prstGeom>
          <a:solidFill>
            <a:srgbClr val="0614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Refresh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409944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Persona snapshots, query fanout, and prompt sets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rot="16200000">
            <a:off x="9226296" y="1508760"/>
            <a:ext cx="1005840" cy="1005840"/>
          </a:xfrm>
          <a:prstGeom prst="arc">
            <a:avLst/>
          </a:prstGeom>
          <a:solidFill>
            <a:srgbClr val="75D9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629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145E"/>
                </a:solidFill>
              </a:rPr>
              <a:t>Apply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26296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A22"/>
                </a:solidFill>
              </a:rPr>
              <a:t>Content, messaging, distribution, and measurement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6145E"/>
          </a:solidFill>
          <a:ln w="12700">
            <a:solidFill>
              <a:srgbClr val="0614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199632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Start with the approved prompt families, assign owners, and schedule the first evidence refresh within 90 days.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nest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rriweather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829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Analytics Search Persona Analysis</dc:title>
  <dc:subject>Search persona analysis</dc:subject>
  <dc:creator>829 Studios</dc:creator>
  <cp:lastModifiedBy>829 Studios</cp:lastModifiedBy>
  <cp:revision>1</cp:revision>
  <dcterms:created xsi:type="dcterms:W3CDTF">2026-08-11T12:51:25Z</dcterms:created>
  <dcterms:modified xsi:type="dcterms:W3CDTF">2026-08-11T12:51:25Z</dcterms:modified>
</cp:coreProperties>
</file>